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280" y="2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10-STEP GIS FOOTPRINT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199" y="1212782"/>
            <a:ext cx="557784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Phase 1: Automated image telemetry processing.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&amp; Extraction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Raw images from DJI drone flight are collected 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ExifTool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parses binary EXIF metadata automatically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Extracts: GPS location (Lat/Lon/Alt), flight height, and yaw/pitch orientation.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FOV Calculation: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Physical sensor specifications are mapped to compute horizontal/vertical FOV.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 Footprint Corners Projection: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Combines camera viewing angles, drone altitude, and yaw rotation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Polygon Building &amp; GIS Export: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Loops coordinates as a polygon, and exports footprints in WGS 84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GeoJSON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 descr="fig_workflow.png"/>
          <p:cNvPicPr>
            <a:picLocks noChangeAspect="1"/>
          </p:cNvPicPr>
          <p:nvPr/>
        </p:nvPicPr>
        <p:blipFill>
          <a:blip r:embed="rId2"/>
          <a:srcRect l="28098" t="5877" r="26546" b="5412"/>
          <a:stretch/>
        </p:blipFill>
        <p:spPr>
          <a:xfrm>
            <a:off x="6718434" y="988854"/>
            <a:ext cx="1443789" cy="35479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rPr dirty="0"/>
              <a:t>CAMERA FIELD OF VIEW &amp; COVERAGE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4859"/>
            <a:ext cx="493776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• </a:t>
            </a:r>
            <a:r>
              <a:rPr sz="1400" b="1" dirty="0"/>
              <a:t>Key Parameters: </a:t>
            </a:r>
            <a:r>
              <a:rPr sz="1400" dirty="0"/>
              <a:t>Focal length (f = 3.61 mm), Sensor size (</a:t>
            </a:r>
            <a:r>
              <a:rPr sz="1400" dirty="0" err="1"/>
              <a:t>Sw</a:t>
            </a:r>
            <a:r>
              <a:rPr sz="1400" dirty="0"/>
              <a:t> = 6.17 mm, </a:t>
            </a:r>
            <a:r>
              <a:rPr sz="1400" dirty="0" err="1"/>
              <a:t>Sh</a:t>
            </a:r>
            <a:r>
              <a:rPr sz="1400" dirty="0"/>
              <a:t> = 4.55 mm).</a:t>
            </a:r>
            <a:endParaRPr lang="en-IN" sz="1400" dirty="0"/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endParaRPr sz="1400" dirty="0"/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• </a:t>
            </a:r>
            <a:r>
              <a:rPr sz="1400" b="1" dirty="0"/>
              <a:t>Step: Calculating viewing angles (FOV):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   - Horizontal FOV = 2 * arctan(</a:t>
            </a:r>
            <a:r>
              <a:rPr sz="1400" dirty="0" err="1"/>
              <a:t>Sw</a:t>
            </a:r>
            <a:r>
              <a:rPr sz="1400" dirty="0"/>
              <a:t> / (2 * f)) = 81.03°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   - Vertical FOV = 2 * arctan(</a:t>
            </a:r>
            <a:r>
              <a:rPr sz="1400" dirty="0" err="1"/>
              <a:t>Sh</a:t>
            </a:r>
            <a:r>
              <a:rPr sz="1400" dirty="0"/>
              <a:t> / (2 * f)) = 64.44°</a:t>
            </a:r>
            <a:endParaRPr lang="en-IN" sz="1400" dirty="0"/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/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• </a:t>
            </a:r>
            <a:r>
              <a:rPr sz="1400" b="1" dirty="0"/>
              <a:t>Step: Ground footprint dimensions (at nadir/straight-down):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   - Width = 2 * Altitude * tan(Horizontal FOV / 2) ≈ 1.71 * Altitude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   - Height = 2 * Altitude * tan(Vertical FOV / 2) ≈ 1.28 * Altitude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   - Oblique imagery (camera tilt/pitch) distorts rectangles into quadrilaterals.</a:t>
            </a:r>
            <a:endParaRPr lang="en-IN" sz="1400" dirty="0"/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/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• </a:t>
            </a:r>
            <a:r>
              <a:rPr sz="1400" b="1" dirty="0"/>
              <a:t>Step: 2D Rotation using Yaw Orientation: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   - </a:t>
            </a:r>
            <a:r>
              <a:rPr sz="1400" dirty="0" err="1"/>
              <a:t>X_rot</a:t>
            </a:r>
            <a:r>
              <a:rPr sz="1400" dirty="0"/>
              <a:t> = </a:t>
            </a:r>
            <a:r>
              <a:rPr sz="1400" dirty="0" err="1"/>
              <a:t>X_local</a:t>
            </a:r>
            <a:r>
              <a:rPr sz="1400" dirty="0"/>
              <a:t> * cos(yaw) + </a:t>
            </a:r>
            <a:r>
              <a:rPr sz="1400" dirty="0" err="1"/>
              <a:t>Y_local</a:t>
            </a:r>
            <a:r>
              <a:rPr sz="1400" dirty="0"/>
              <a:t> * sin(yaw)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/>
              <a:t>   - </a:t>
            </a:r>
            <a:r>
              <a:rPr sz="1400" dirty="0" err="1"/>
              <a:t>Y_rot</a:t>
            </a:r>
            <a:r>
              <a:rPr sz="1400" dirty="0"/>
              <a:t> = -</a:t>
            </a:r>
            <a:r>
              <a:rPr sz="1400" dirty="0" err="1"/>
              <a:t>X_local</a:t>
            </a:r>
            <a:r>
              <a:rPr sz="1400" dirty="0"/>
              <a:t> * sin(yaw) + </a:t>
            </a:r>
            <a:r>
              <a:rPr sz="1400" dirty="0" err="1"/>
              <a:t>Y_local</a:t>
            </a:r>
            <a:r>
              <a:rPr sz="1400" dirty="0"/>
              <a:t> * cos(yaw)</a:t>
            </a:r>
          </a:p>
        </p:txBody>
      </p:sp>
      <p:pic>
        <p:nvPicPr>
          <p:cNvPr id="4" name="Picture 3" descr="fig_f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2365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UAV METADATA STANDARDS &amp; FAIR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Objective: Compare metadata schemas to ensure UAV data interoperability.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Why Metadata Standards Matter: Drone missions produce heterogeneous formats. Standardized tags ensure files are easily discovered and loaded.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FAIR Principles for Drone Data: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Findable: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search terms and unique IDs.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Accessible: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open and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queryable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through API catalogs.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Interoperable: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schemas allow direct import into QGIS, ArcGIS, or Python.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Reusable: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 details on sensor calibration and coordinates.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Key Barrier: Traditional XML schemas (ISO) are heavy, while raw vectors (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GeoJSON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lack rich sensor calibration attributes.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GEOGRAPHIC METADATA: ISO 19115 &amp; ISO 19139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 19115 (Metadata Schema):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cornerstone international standard for geographic metadata.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Defines elements describing geographic datasets (spatial range, data quality, lineage, sensor).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ISO 19139 (XML Schema Implementation):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Details how ISO 19115 elements must be structured inside XML files for machine exchanges.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OGC (Open Geospatial Consortium) Standards: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Standardizes services like CSW (Catalog Service for Web) to publish and search ISO XML documents.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Limitation: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XML encoding makes them difficult for cloud software and web APIs to read rapidly.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CLOUD-OPTIMIZED FORMATS (COG &amp; COPC)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GeoTIFF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vs. Cloud Optimized </a:t>
            </a:r>
            <a:r>
              <a:rPr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GeoTIFF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(COG):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Standard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GeoTIFF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 to be read entirely to query an elevation point.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COG organizes elevation cells into HTTP range request tiles.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Allows GIS apps to query terrain elevation in milliseconds over a network without downloading the full gigabyte file.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LAS/LAZ vs. Cloud Optimized Point Cloud (COPC):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LAZ files are compressed point clouds but lack spatial indexes.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COPC structures point clouds as an octree layout inside a LAZ file.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Enables streaming of points based on resolution and bounding boxes.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SPATIOTEMPORAL ASSET CATALOG (STAC)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772427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 Specification: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modern JSON-LD metadata standard built to catalog geospatial assets (photos, DEMs, point clouds).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Three core components in the STAC hierarchy: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 Catalog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root JSON file indexing the structure.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 Collection: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Groups related UAV images, documenting camera specs, focal length, and spatial boundaries.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 Item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GeoJSON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metadata document describing a single image, linked to the raw JPG asset.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 API: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Defines a standard RESTful query API to search drone photos by time ranges and footprint bounding boxes.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COMPARATIVE ANALYSIS FOR UAV INTEROPERABILITY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199" y="1097279"/>
            <a:ext cx="5048451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 Standards: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Heavyweight, structured for formal catalogs, but difficult to implement for single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uav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GeoJSON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Excellent vector format for footprints, but lacks metadata tags for camera calibration and gimbal angles.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STAC: 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the best of both worlds. Represents footprints in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GeoJSON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while storing rich camera assets and flight telemetry in structured JSON-LD properties.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Recommendation for UAV GIS Workflows: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Store raw telemetry in STAC Items.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Export footprint boundaries as </a:t>
            </a:r>
            <a:r>
              <a:rPr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GeoJSON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features.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- Stream elevation and point clouds via COG and COPC.</a:t>
            </a:r>
          </a:p>
        </p:txBody>
      </p:sp>
      <p:pic>
        <p:nvPicPr>
          <p:cNvPr id="4" name="Picture 3" descr="fig_comparison.png"/>
          <p:cNvPicPr>
            <a:picLocks noChangeAspect="1"/>
          </p:cNvPicPr>
          <p:nvPr/>
        </p:nvPicPr>
        <p:blipFill>
          <a:blip r:embed="rId2"/>
          <a:srcRect t="26553" b="24676"/>
          <a:stretch/>
        </p:blipFill>
        <p:spPr>
          <a:xfrm>
            <a:off x="5577839" y="1617045"/>
            <a:ext cx="3421781" cy="17902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909</Words>
  <Application>Microsoft Office PowerPoint</Application>
  <PresentationFormat>On-screen Show (16:9)</PresentationFormat>
  <Paragraphs>80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Lakshmi Navyatha K</cp:lastModifiedBy>
  <cp:revision>4</cp:revision>
  <dcterms:created xsi:type="dcterms:W3CDTF">2013-01-27T09:14:16Z</dcterms:created>
  <dcterms:modified xsi:type="dcterms:W3CDTF">2026-08-10T04:12:49Z</dcterms:modified>
  <cp:category/>
</cp:coreProperties>
</file>